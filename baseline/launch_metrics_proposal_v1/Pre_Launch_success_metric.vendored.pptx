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835869984_2_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835869984_2_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g3f835869984_2_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835869984_2_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f835869984_2_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g3f835869984_2_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35869984_2_5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f835869984_2_5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f835869984_2_5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835869984_2_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f835869984_2_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f835869984_2_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835869984_2_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f835869984_2_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f835869984_2_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35869984_2_11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f835869984_2_11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f835869984_2_11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835869984_2_13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f835869984_2_13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f835869984_2_13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C2E"/>
        </a:solidFill>
      </p:bgPr>
    </p:bg>
    <p:spTree>
      <p:nvGrpSpPr>
        <p:cNvPr id="57" name="Shape 57"/>
        <p:cNvGrpSpPr/>
        <p:nvPr/>
      </p:nvGrpSpPr>
      <p:grpSpPr>
        <a:xfrm>
          <a:off x="0" y="0"/>
          <a:ext cx="0" cy="0"/>
          <a:chOff x="0" y="0"/>
          <a:chExt cx="0" cy="0"/>
        </a:xfrm>
      </p:grpSpPr>
      <p:sp>
        <p:nvSpPr>
          <p:cNvPr id="58" name="Google Shape;58;p16"/>
          <p:cNvSpPr/>
          <p:nvPr/>
        </p:nvSpPr>
        <p:spPr>
          <a:xfrm>
            <a:off x="0" y="0"/>
            <a:ext cx="9141714" cy="5143500"/>
          </a:xfrm>
          <a:prstGeom prst="rect">
            <a:avLst/>
          </a:prstGeom>
          <a:solidFill>
            <a:srgbClr val="0C2C2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6"/>
          <p:cNvSpPr/>
          <p:nvPr/>
        </p:nvSpPr>
        <p:spPr>
          <a:xfrm>
            <a:off x="6720840" y="-1508760"/>
            <a:ext cx="4114800" cy="4114800"/>
          </a:xfrm>
          <a:prstGeom prst="ellipse">
            <a:avLst/>
          </a:prstGeom>
          <a:solidFill>
            <a:srgbClr val="028090">
              <a:alpha val="400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6"/>
          <p:cNvSpPr/>
          <p:nvPr/>
        </p:nvSpPr>
        <p:spPr>
          <a:xfrm>
            <a:off x="-1371600" y="3086100"/>
            <a:ext cx="3429000" cy="3429000"/>
          </a:xfrm>
          <a:prstGeom prst="ellipse">
            <a:avLst/>
          </a:prstGeom>
          <a:solidFill>
            <a:srgbClr val="00A896">
              <a:alpha val="30196"/>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6"/>
          <p:cNvSpPr/>
          <p:nvPr/>
        </p:nvSpPr>
        <p:spPr>
          <a:xfrm>
            <a:off x="617220" y="1474470"/>
            <a:ext cx="54864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200"/>
              <a:buFont typeface="Calibri"/>
              <a:buNone/>
            </a:pPr>
            <a:r>
              <a:rPr b="1" i="0" lang="en" sz="1200" u="none" cap="none" strike="noStrike">
                <a:solidFill>
                  <a:srgbClr val="02C39A"/>
                </a:solidFill>
                <a:latin typeface="Calibri"/>
                <a:ea typeface="Calibri"/>
                <a:cs typeface="Calibri"/>
                <a:sym typeface="Calibri"/>
              </a:rPr>
              <a:t>WELLAPATH</a:t>
            </a:r>
            <a:endParaRPr b="0" i="0" sz="1200" u="none" cap="none" strike="noStrike">
              <a:solidFill>
                <a:schemeClr val="dk1"/>
              </a:solidFill>
              <a:latin typeface="Calibri"/>
              <a:ea typeface="Calibri"/>
              <a:cs typeface="Calibri"/>
              <a:sym typeface="Calibri"/>
            </a:endParaRPr>
          </a:p>
        </p:txBody>
      </p:sp>
      <p:sp>
        <p:nvSpPr>
          <p:cNvPr id="62" name="Google Shape;62;p16"/>
          <p:cNvSpPr/>
          <p:nvPr/>
        </p:nvSpPr>
        <p:spPr>
          <a:xfrm>
            <a:off x="617225" y="1783068"/>
            <a:ext cx="7200900" cy="2068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Wellapath </a:t>
            </a:r>
            <a:r>
              <a:rPr b="1" i="0" lang="en" sz="3300" u="none" cap="none" strike="noStrike">
                <a:solidFill>
                  <a:srgbClr val="FFFFFF"/>
                </a:solidFill>
                <a:latin typeface="Cambria"/>
                <a:ea typeface="Cambria"/>
                <a:cs typeface="Cambria"/>
                <a:sym typeface="Cambria"/>
              </a:rPr>
              <a:t>Pre-Launch Success Metrics</a:t>
            </a:r>
            <a:endParaRPr b="1" i="0" sz="3300" u="none" cap="none" strike="noStrike">
              <a:solidFill>
                <a:srgbClr val="FFFFFF"/>
              </a:solidFill>
              <a:latin typeface="Cambria"/>
              <a:ea typeface="Cambria"/>
              <a:cs typeface="Cambria"/>
              <a:sym typeface="Cambria"/>
            </a:endParaRPr>
          </a:p>
          <a:p>
            <a:pPr indent="0" lvl="0" marL="0" rtl="0" algn="ctr">
              <a:spcBef>
                <a:spcPts val="0"/>
              </a:spcBef>
              <a:spcAft>
                <a:spcPts val="0"/>
              </a:spcAft>
              <a:buClr>
                <a:srgbClr val="888888"/>
              </a:buClr>
              <a:buSzPts val="3200"/>
              <a:buFont typeface="Arial"/>
              <a:buNone/>
            </a:pPr>
            <a:r>
              <a:rPr lang="en" sz="3200">
                <a:solidFill>
                  <a:srgbClr val="888888"/>
                </a:solidFill>
                <a:latin typeface="Calibri"/>
                <a:ea typeface="Calibri"/>
                <a:cs typeface="Calibri"/>
                <a:sym typeface="Calibri"/>
              </a:rPr>
              <a:t>Measuring product readiness, user value, safety, and reliability before launch</a:t>
            </a:r>
            <a:endParaRPr b="1" sz="3300">
              <a:solidFill>
                <a:srgbClr val="FFFFFF"/>
              </a:solidFill>
              <a:latin typeface="Cambria"/>
              <a:ea typeface="Cambria"/>
              <a:cs typeface="Cambria"/>
              <a:sym typeface="Cambria"/>
            </a:endParaRPr>
          </a:p>
        </p:txBody>
      </p:sp>
      <p:sp>
        <p:nvSpPr>
          <p:cNvPr id="63" name="Google Shape;63;p16"/>
          <p:cNvSpPr/>
          <p:nvPr/>
        </p:nvSpPr>
        <p:spPr>
          <a:xfrm>
            <a:off x="617220" y="2640330"/>
            <a:ext cx="68580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7DEDD"/>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64" name="Google Shape;64;p16"/>
          <p:cNvSpPr/>
          <p:nvPr/>
        </p:nvSpPr>
        <p:spPr>
          <a:xfrm>
            <a:off x="617220" y="4491990"/>
            <a:ext cx="68580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A9C7C5"/>
              </a:buClr>
              <a:buSzPts val="900"/>
              <a:buFont typeface="Calibri"/>
              <a:buNone/>
            </a:pPr>
            <a:r>
              <a:rPr b="0" i="0" lang="en" sz="900" u="none" cap="none" strike="noStrike">
                <a:solidFill>
                  <a:srgbClr val="A9C7C5"/>
                </a:solidFill>
                <a:latin typeface="Calibri"/>
                <a:ea typeface="Calibri"/>
                <a:cs typeface="Calibri"/>
                <a:sym typeface="Calibri"/>
              </a:rPr>
              <a:t>10 metrics · 7 categories · evidence-based launch gate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69" name="Shape 69"/>
        <p:cNvGrpSpPr/>
        <p:nvPr/>
      </p:nvGrpSpPr>
      <p:grpSpPr>
        <a:xfrm>
          <a:off x="0" y="0"/>
          <a:ext cx="0" cy="0"/>
          <a:chOff x="0" y="0"/>
          <a:chExt cx="0" cy="0"/>
        </a:xfrm>
      </p:grpSpPr>
      <p:sp>
        <p:nvSpPr>
          <p:cNvPr id="70" name="Google Shape;70;p17"/>
          <p:cNvSpPr/>
          <p:nvPr/>
        </p:nvSpPr>
        <p:spPr>
          <a:xfrm>
            <a:off x="480060" y="377190"/>
            <a:ext cx="548640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2300"/>
              <a:buFont typeface="Cambria"/>
              <a:buNone/>
            </a:pPr>
            <a:r>
              <a:rPr b="1" i="0" lang="en" sz="2300" u="none" cap="none" strike="noStrike">
                <a:solidFill>
                  <a:srgbClr val="0C2C2E"/>
                </a:solidFill>
                <a:latin typeface="Cambria"/>
                <a:ea typeface="Cambria"/>
                <a:cs typeface="Cambria"/>
                <a:sym typeface="Cambria"/>
              </a:rPr>
              <a:t>Why these metrics</a:t>
            </a:r>
            <a:endParaRPr b="0" i="0" sz="2300" u="none" cap="none" strike="noStrike">
              <a:solidFill>
                <a:schemeClr val="dk1"/>
              </a:solidFill>
              <a:latin typeface="Calibri"/>
              <a:ea typeface="Calibri"/>
              <a:cs typeface="Calibri"/>
              <a:sym typeface="Calibri"/>
            </a:endParaRPr>
          </a:p>
        </p:txBody>
      </p:sp>
      <p:sp>
        <p:nvSpPr>
          <p:cNvPr id="71" name="Google Shape;71;p17"/>
          <p:cNvSpPr/>
          <p:nvPr/>
        </p:nvSpPr>
        <p:spPr>
          <a:xfrm>
            <a:off x="480060" y="925830"/>
            <a:ext cx="816102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2E4A4C"/>
              </a:buClr>
              <a:buSzPts val="1100"/>
              <a:buFont typeface="Calibri"/>
              <a:buNone/>
            </a:pPr>
            <a:r>
              <a:rPr lang="en" sz="1100">
                <a:solidFill>
                  <a:srgbClr val="2E4A4C"/>
                </a:solidFill>
                <a:latin typeface="Calibri"/>
                <a:ea typeface="Calibri"/>
                <a:cs typeface="Calibri"/>
                <a:sym typeface="Calibri"/>
              </a:rPr>
              <a:t>To </a:t>
            </a:r>
            <a:r>
              <a:rPr lang="en" sz="1100">
                <a:solidFill>
                  <a:srgbClr val="2E4A4C"/>
                </a:solidFill>
                <a:latin typeface="Calibri"/>
                <a:ea typeface="Calibri"/>
                <a:cs typeface="Calibri"/>
                <a:sym typeface="Calibri"/>
              </a:rPr>
              <a:t>validate</a:t>
            </a:r>
            <a:r>
              <a:rPr lang="en" sz="1100">
                <a:solidFill>
                  <a:srgbClr val="2E4A4C"/>
                </a:solidFill>
                <a:latin typeface="Calibri"/>
                <a:ea typeface="Calibri"/>
                <a:cs typeface="Calibri"/>
                <a:sym typeface="Calibri"/>
              </a:rPr>
              <a:t> that users can complete the core </a:t>
            </a:r>
            <a:r>
              <a:rPr lang="en" sz="1100">
                <a:solidFill>
                  <a:srgbClr val="2E4A4C"/>
                </a:solidFill>
                <a:latin typeface="Calibri"/>
                <a:ea typeface="Calibri"/>
                <a:cs typeface="Calibri"/>
                <a:sym typeface="Calibri"/>
              </a:rPr>
              <a:t>assessment</a:t>
            </a:r>
            <a:r>
              <a:rPr lang="en" sz="1100">
                <a:solidFill>
                  <a:srgbClr val="2E4A4C"/>
                </a:solidFill>
                <a:latin typeface="Calibri"/>
                <a:ea typeface="Calibri"/>
                <a:cs typeface="Calibri"/>
                <a:sym typeface="Calibri"/>
              </a:rPr>
              <a:t> journey, ensure that safety and emergency flows work correctly</a:t>
            </a:r>
            <a:r>
              <a:rPr b="0" i="0" lang="en" sz="1100" u="none" cap="none" strike="noStrike">
                <a:solidFill>
                  <a:srgbClr val="2E4A4C"/>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72" name="Google Shape;72;p17"/>
          <p:cNvSpPr/>
          <p:nvPr/>
        </p:nvSpPr>
        <p:spPr>
          <a:xfrm>
            <a:off x="48006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7"/>
          <p:cNvSpPr/>
          <p:nvPr/>
        </p:nvSpPr>
        <p:spPr>
          <a:xfrm>
            <a:off x="603504" y="2242566"/>
            <a:ext cx="274320" cy="274320"/>
          </a:xfrm>
          <a:prstGeom prst="roundRect">
            <a:avLst>
              <a:gd fmla="val 50000" name="adj"/>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7"/>
          <p:cNvSpPr/>
          <p:nvPr/>
        </p:nvSpPr>
        <p:spPr>
          <a:xfrm>
            <a:off x="60350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75" name="Google Shape;75;p17"/>
          <p:cNvSpPr/>
          <p:nvPr/>
        </p:nvSpPr>
        <p:spPr>
          <a:xfrm>
            <a:off x="58978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Core Journey</a:t>
            </a:r>
            <a:endParaRPr b="0" i="0" sz="900" u="none" cap="none" strike="noStrike">
              <a:solidFill>
                <a:schemeClr val="dk1"/>
              </a:solidFill>
              <a:latin typeface="Calibri"/>
              <a:ea typeface="Calibri"/>
              <a:cs typeface="Calibri"/>
              <a:sym typeface="Calibri"/>
            </a:endParaRPr>
          </a:p>
        </p:txBody>
      </p:sp>
      <p:sp>
        <p:nvSpPr>
          <p:cNvPr id="76" name="Google Shape;76;p17"/>
          <p:cNvSpPr/>
          <p:nvPr/>
        </p:nvSpPr>
        <p:spPr>
          <a:xfrm>
            <a:off x="58978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3 metrics</a:t>
            </a:r>
            <a:endParaRPr b="0" i="0" sz="700" u="none" cap="none" strike="noStrike">
              <a:solidFill>
                <a:schemeClr val="dk1"/>
              </a:solidFill>
              <a:latin typeface="Calibri"/>
              <a:ea typeface="Calibri"/>
              <a:cs typeface="Calibri"/>
              <a:sym typeface="Calibri"/>
            </a:endParaRPr>
          </a:p>
        </p:txBody>
      </p:sp>
      <p:sp>
        <p:nvSpPr>
          <p:cNvPr id="77" name="Google Shape;77;p17"/>
          <p:cNvSpPr/>
          <p:nvPr/>
        </p:nvSpPr>
        <p:spPr>
          <a:xfrm>
            <a:off x="164592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7"/>
          <p:cNvSpPr/>
          <p:nvPr/>
        </p:nvSpPr>
        <p:spPr>
          <a:xfrm>
            <a:off x="1769364" y="2242566"/>
            <a:ext cx="274320" cy="274320"/>
          </a:xfrm>
          <a:prstGeom prst="roundRect">
            <a:avLst>
              <a:gd fmla="val 50000" name="adj"/>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7"/>
          <p:cNvSpPr/>
          <p:nvPr/>
        </p:nvSpPr>
        <p:spPr>
          <a:xfrm>
            <a:off x="176936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80" name="Google Shape;80;p17"/>
          <p:cNvSpPr/>
          <p:nvPr/>
        </p:nvSpPr>
        <p:spPr>
          <a:xfrm>
            <a:off x="175564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lang="en" sz="900">
                <a:solidFill>
                  <a:srgbClr val="0C2C2E"/>
                </a:solidFill>
                <a:latin typeface="Calibri"/>
                <a:ea typeface="Calibri"/>
                <a:cs typeface="Calibri"/>
                <a:sym typeface="Calibri"/>
              </a:rPr>
              <a:t>Facility</a:t>
            </a:r>
            <a:r>
              <a:rPr b="1" lang="en" sz="900">
                <a:solidFill>
                  <a:srgbClr val="0C2C2E"/>
                </a:solidFill>
                <a:latin typeface="Calibri"/>
                <a:ea typeface="Calibri"/>
                <a:cs typeface="Calibri"/>
                <a:sym typeface="Calibri"/>
              </a:rPr>
              <a:t> Rate</a:t>
            </a:r>
            <a:endParaRPr b="0" i="0" sz="900" u="none" cap="none" strike="noStrike">
              <a:solidFill>
                <a:schemeClr val="dk1"/>
              </a:solidFill>
              <a:latin typeface="Calibri"/>
              <a:ea typeface="Calibri"/>
              <a:cs typeface="Calibri"/>
              <a:sym typeface="Calibri"/>
            </a:endParaRPr>
          </a:p>
        </p:txBody>
      </p:sp>
      <p:sp>
        <p:nvSpPr>
          <p:cNvPr id="81" name="Google Shape;81;p17"/>
          <p:cNvSpPr/>
          <p:nvPr/>
        </p:nvSpPr>
        <p:spPr>
          <a:xfrm>
            <a:off x="175564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1 metric — zero tolerance</a:t>
            </a:r>
            <a:endParaRPr b="0" i="0" sz="700" u="none" cap="none" strike="noStrike">
              <a:solidFill>
                <a:schemeClr val="dk1"/>
              </a:solidFill>
              <a:latin typeface="Calibri"/>
              <a:ea typeface="Calibri"/>
              <a:cs typeface="Calibri"/>
              <a:sym typeface="Calibri"/>
            </a:endParaRPr>
          </a:p>
        </p:txBody>
      </p:sp>
      <p:sp>
        <p:nvSpPr>
          <p:cNvPr id="82" name="Google Shape;82;p17"/>
          <p:cNvSpPr/>
          <p:nvPr/>
        </p:nvSpPr>
        <p:spPr>
          <a:xfrm>
            <a:off x="281178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7"/>
          <p:cNvSpPr/>
          <p:nvPr/>
        </p:nvSpPr>
        <p:spPr>
          <a:xfrm>
            <a:off x="2935224" y="2242566"/>
            <a:ext cx="274320" cy="274320"/>
          </a:xfrm>
          <a:prstGeom prst="roundRect">
            <a:avLst>
              <a:gd fmla="val 50000" name="adj"/>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7"/>
          <p:cNvSpPr/>
          <p:nvPr/>
        </p:nvSpPr>
        <p:spPr>
          <a:xfrm>
            <a:off x="293522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85" name="Google Shape;85;p17"/>
          <p:cNvSpPr/>
          <p:nvPr/>
        </p:nvSpPr>
        <p:spPr>
          <a:xfrm>
            <a:off x="292150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Care Navigation</a:t>
            </a:r>
            <a:endParaRPr b="0" i="0" sz="900" u="none" cap="none" strike="noStrike">
              <a:solidFill>
                <a:schemeClr val="dk1"/>
              </a:solidFill>
              <a:latin typeface="Calibri"/>
              <a:ea typeface="Calibri"/>
              <a:cs typeface="Calibri"/>
              <a:sym typeface="Calibri"/>
            </a:endParaRPr>
          </a:p>
        </p:txBody>
      </p:sp>
      <p:sp>
        <p:nvSpPr>
          <p:cNvPr id="86" name="Google Shape;86;p17"/>
          <p:cNvSpPr/>
          <p:nvPr/>
        </p:nvSpPr>
        <p:spPr>
          <a:xfrm>
            <a:off x="292150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1 metric</a:t>
            </a:r>
            <a:endParaRPr b="0" i="0" sz="700" u="none" cap="none" strike="noStrike">
              <a:solidFill>
                <a:schemeClr val="dk1"/>
              </a:solidFill>
              <a:latin typeface="Calibri"/>
              <a:ea typeface="Calibri"/>
              <a:cs typeface="Calibri"/>
              <a:sym typeface="Calibri"/>
            </a:endParaRPr>
          </a:p>
        </p:txBody>
      </p:sp>
      <p:sp>
        <p:nvSpPr>
          <p:cNvPr id="87" name="Google Shape;87;p17"/>
          <p:cNvSpPr/>
          <p:nvPr/>
        </p:nvSpPr>
        <p:spPr>
          <a:xfrm>
            <a:off x="397764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p17"/>
          <p:cNvSpPr/>
          <p:nvPr/>
        </p:nvSpPr>
        <p:spPr>
          <a:xfrm>
            <a:off x="4101084" y="2242566"/>
            <a:ext cx="274320" cy="274320"/>
          </a:xfrm>
          <a:prstGeom prst="roundRect">
            <a:avLst>
              <a:gd fmla="val 50000" name="adj"/>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7"/>
          <p:cNvSpPr/>
          <p:nvPr/>
        </p:nvSpPr>
        <p:spPr>
          <a:xfrm>
            <a:off x="410108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90" name="Google Shape;90;p17"/>
          <p:cNvSpPr/>
          <p:nvPr/>
        </p:nvSpPr>
        <p:spPr>
          <a:xfrm>
            <a:off x="408736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Retention &amp; Engagement</a:t>
            </a:r>
            <a:endParaRPr b="0" i="0" sz="900" u="none" cap="none" strike="noStrike">
              <a:solidFill>
                <a:schemeClr val="dk1"/>
              </a:solidFill>
              <a:latin typeface="Calibri"/>
              <a:ea typeface="Calibri"/>
              <a:cs typeface="Calibri"/>
              <a:sym typeface="Calibri"/>
            </a:endParaRPr>
          </a:p>
        </p:txBody>
      </p:sp>
      <p:sp>
        <p:nvSpPr>
          <p:cNvPr id="91" name="Google Shape;91;p17"/>
          <p:cNvSpPr/>
          <p:nvPr/>
        </p:nvSpPr>
        <p:spPr>
          <a:xfrm>
            <a:off x="408736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2 metrics</a:t>
            </a:r>
            <a:endParaRPr b="0" i="0" sz="700" u="none" cap="none" strike="noStrike">
              <a:solidFill>
                <a:schemeClr val="dk1"/>
              </a:solidFill>
              <a:latin typeface="Calibri"/>
              <a:ea typeface="Calibri"/>
              <a:cs typeface="Calibri"/>
              <a:sym typeface="Calibri"/>
            </a:endParaRPr>
          </a:p>
        </p:txBody>
      </p:sp>
      <p:sp>
        <p:nvSpPr>
          <p:cNvPr id="92" name="Google Shape;92;p17"/>
          <p:cNvSpPr/>
          <p:nvPr/>
        </p:nvSpPr>
        <p:spPr>
          <a:xfrm>
            <a:off x="514350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7"/>
          <p:cNvSpPr/>
          <p:nvPr/>
        </p:nvSpPr>
        <p:spPr>
          <a:xfrm>
            <a:off x="5266944" y="2242566"/>
            <a:ext cx="274320" cy="274320"/>
          </a:xfrm>
          <a:prstGeom prst="roundRect">
            <a:avLst>
              <a:gd fmla="val 50000" name="adj"/>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7"/>
          <p:cNvSpPr/>
          <p:nvPr/>
        </p:nvSpPr>
        <p:spPr>
          <a:xfrm>
            <a:off x="526694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95" name="Google Shape;95;p17"/>
          <p:cNvSpPr/>
          <p:nvPr/>
        </p:nvSpPr>
        <p:spPr>
          <a:xfrm>
            <a:off x="525322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Outcome Quality</a:t>
            </a:r>
            <a:endParaRPr b="0" i="0" sz="900" u="none" cap="none" strike="noStrike">
              <a:solidFill>
                <a:schemeClr val="dk1"/>
              </a:solidFill>
              <a:latin typeface="Calibri"/>
              <a:ea typeface="Calibri"/>
              <a:cs typeface="Calibri"/>
              <a:sym typeface="Calibri"/>
            </a:endParaRPr>
          </a:p>
        </p:txBody>
      </p:sp>
      <p:sp>
        <p:nvSpPr>
          <p:cNvPr id="96" name="Google Shape;96;p17"/>
          <p:cNvSpPr/>
          <p:nvPr/>
        </p:nvSpPr>
        <p:spPr>
          <a:xfrm>
            <a:off x="525322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1 metric</a:t>
            </a:r>
            <a:endParaRPr b="0" i="0" sz="700" u="none" cap="none" strike="noStrike">
              <a:solidFill>
                <a:schemeClr val="dk1"/>
              </a:solidFill>
              <a:latin typeface="Calibri"/>
              <a:ea typeface="Calibri"/>
              <a:cs typeface="Calibri"/>
              <a:sym typeface="Calibri"/>
            </a:endParaRPr>
          </a:p>
        </p:txBody>
      </p:sp>
      <p:sp>
        <p:nvSpPr>
          <p:cNvPr id="97" name="Google Shape;97;p17"/>
          <p:cNvSpPr/>
          <p:nvPr/>
        </p:nvSpPr>
        <p:spPr>
          <a:xfrm>
            <a:off x="630936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7"/>
          <p:cNvSpPr/>
          <p:nvPr/>
        </p:nvSpPr>
        <p:spPr>
          <a:xfrm>
            <a:off x="6432804" y="2242566"/>
            <a:ext cx="274320" cy="274320"/>
          </a:xfrm>
          <a:prstGeom prst="roundRect">
            <a:avLst>
              <a:gd fmla="val 50000" name="adj"/>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643280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
        <p:nvSpPr>
          <p:cNvPr id="100" name="Google Shape;100;p17"/>
          <p:cNvSpPr/>
          <p:nvPr/>
        </p:nvSpPr>
        <p:spPr>
          <a:xfrm>
            <a:off x="641908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Reach &amp; Demand</a:t>
            </a:r>
            <a:endParaRPr b="0" i="0" sz="900" u="none" cap="none" strike="noStrike">
              <a:solidFill>
                <a:schemeClr val="dk1"/>
              </a:solidFill>
              <a:latin typeface="Calibri"/>
              <a:ea typeface="Calibri"/>
              <a:cs typeface="Calibri"/>
              <a:sym typeface="Calibri"/>
            </a:endParaRPr>
          </a:p>
        </p:txBody>
      </p:sp>
      <p:sp>
        <p:nvSpPr>
          <p:cNvPr id="101" name="Google Shape;101;p17"/>
          <p:cNvSpPr/>
          <p:nvPr/>
        </p:nvSpPr>
        <p:spPr>
          <a:xfrm>
            <a:off x="641908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1 metric</a:t>
            </a:r>
            <a:endParaRPr b="0" i="0" sz="700" u="none" cap="none" strike="noStrike">
              <a:solidFill>
                <a:schemeClr val="dk1"/>
              </a:solidFill>
              <a:latin typeface="Calibri"/>
              <a:ea typeface="Calibri"/>
              <a:cs typeface="Calibri"/>
              <a:sym typeface="Calibri"/>
            </a:endParaRPr>
          </a:p>
        </p:txBody>
      </p:sp>
      <p:sp>
        <p:nvSpPr>
          <p:cNvPr id="102" name="Google Shape;102;p17"/>
          <p:cNvSpPr/>
          <p:nvPr/>
        </p:nvSpPr>
        <p:spPr>
          <a:xfrm>
            <a:off x="7475220" y="2091690"/>
            <a:ext cx="1069848" cy="1371600"/>
          </a:xfrm>
          <a:prstGeom prst="roundRect">
            <a:avLst>
              <a:gd fmla="val 5128" name="adj"/>
            </a:avLst>
          </a:prstGeom>
          <a:solidFill>
            <a:srgbClr val="FFFFFF"/>
          </a:solidFill>
          <a:ln>
            <a:noFill/>
          </a:ln>
          <a:effectLst>
            <a:outerShdw blurRad="76200" rotWithShape="0" algn="bl" dir="5400000" dist="25400">
              <a:srgbClr val="1B3A3D">
                <a:alpha val="18039"/>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7"/>
          <p:cNvSpPr/>
          <p:nvPr/>
        </p:nvSpPr>
        <p:spPr>
          <a:xfrm>
            <a:off x="7598664" y="2242566"/>
            <a:ext cx="274320" cy="274320"/>
          </a:xfrm>
          <a:prstGeom prst="roundRect">
            <a:avLst>
              <a:gd fmla="val 50000" name="adj"/>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17"/>
          <p:cNvSpPr/>
          <p:nvPr/>
        </p:nvSpPr>
        <p:spPr>
          <a:xfrm>
            <a:off x="7598664" y="2242566"/>
            <a:ext cx="27432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07</a:t>
            </a:r>
            <a:endParaRPr b="0" i="0" sz="1000" u="none" cap="none" strike="noStrike">
              <a:solidFill>
                <a:schemeClr val="dk1"/>
              </a:solidFill>
              <a:latin typeface="Calibri"/>
              <a:ea typeface="Calibri"/>
              <a:cs typeface="Calibri"/>
              <a:sym typeface="Calibri"/>
            </a:endParaRPr>
          </a:p>
        </p:txBody>
      </p:sp>
      <p:sp>
        <p:nvSpPr>
          <p:cNvPr id="105" name="Google Shape;105;p17"/>
          <p:cNvSpPr/>
          <p:nvPr/>
        </p:nvSpPr>
        <p:spPr>
          <a:xfrm>
            <a:off x="7584948" y="2654046"/>
            <a:ext cx="850392" cy="51435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900"/>
              <a:buFont typeface="Calibri"/>
              <a:buNone/>
            </a:pPr>
            <a:r>
              <a:rPr b="1" i="0" lang="en" sz="900" u="none" cap="none" strike="noStrike">
                <a:solidFill>
                  <a:srgbClr val="0C2C2E"/>
                </a:solidFill>
                <a:latin typeface="Calibri"/>
                <a:ea typeface="Calibri"/>
                <a:cs typeface="Calibri"/>
                <a:sym typeface="Calibri"/>
              </a:rPr>
              <a:t>Technical Reliability</a:t>
            </a:r>
            <a:endParaRPr b="0" i="0" sz="900" u="none" cap="none" strike="noStrike">
              <a:solidFill>
                <a:schemeClr val="dk1"/>
              </a:solidFill>
              <a:latin typeface="Calibri"/>
              <a:ea typeface="Calibri"/>
              <a:cs typeface="Calibri"/>
              <a:sym typeface="Calibri"/>
            </a:endParaRPr>
          </a:p>
        </p:txBody>
      </p:sp>
      <p:sp>
        <p:nvSpPr>
          <p:cNvPr id="106" name="Google Shape;106;p17"/>
          <p:cNvSpPr/>
          <p:nvPr/>
        </p:nvSpPr>
        <p:spPr>
          <a:xfrm>
            <a:off x="7584948" y="3175254"/>
            <a:ext cx="850392"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0" lang="en" sz="700" u="none" cap="none" strike="noStrike">
                <a:solidFill>
                  <a:srgbClr val="5C7A7C"/>
                </a:solidFill>
                <a:latin typeface="Calibri"/>
                <a:ea typeface="Calibri"/>
                <a:cs typeface="Calibri"/>
                <a:sym typeface="Calibri"/>
              </a:rPr>
              <a:t>1 metric</a:t>
            </a:r>
            <a:endParaRPr b="0" i="0" sz="700" u="none" cap="none" strike="noStrike">
              <a:solidFill>
                <a:schemeClr val="dk1"/>
              </a:solidFill>
              <a:latin typeface="Calibri"/>
              <a:ea typeface="Calibri"/>
              <a:cs typeface="Calibri"/>
              <a:sym typeface="Calibri"/>
            </a:endParaRPr>
          </a:p>
        </p:txBody>
      </p:sp>
      <p:sp>
        <p:nvSpPr>
          <p:cNvPr id="107" name="Google Shape;107;p17"/>
          <p:cNvSpPr/>
          <p:nvPr/>
        </p:nvSpPr>
        <p:spPr>
          <a:xfrm>
            <a:off x="480060" y="4834890"/>
            <a:ext cx="54864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700"/>
              <a:buFont typeface="Calibri"/>
              <a:buNone/>
            </a:pPr>
            <a:r>
              <a:rPr b="0" i="1" lang="en" sz="700" u="none" cap="none" strike="noStrike">
                <a:solidFill>
                  <a:srgbClr val="5C7A7C"/>
                </a:solidFill>
                <a:latin typeface="Calibri"/>
                <a:ea typeface="Calibri"/>
                <a:cs typeface="Calibri"/>
                <a:sym typeface="Calibri"/>
              </a:rPr>
              <a:t>Section 5, WellaPath MVP Improvement Roadmap v1.0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18"/>
          <p:cNvSpPr/>
          <p:nvPr/>
        </p:nvSpPr>
        <p:spPr>
          <a:xfrm>
            <a:off x="0" y="0"/>
            <a:ext cx="2948940" cy="5143500"/>
          </a:xfrm>
          <a:prstGeom prst="roundRect">
            <a:avLst>
              <a:gd fmla="val 16667" name="adj"/>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8"/>
          <p:cNvSpPr/>
          <p:nvPr/>
        </p:nvSpPr>
        <p:spPr>
          <a:xfrm>
            <a:off x="411480" y="377190"/>
            <a:ext cx="13716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100"/>
              <a:buFont typeface="Calibri"/>
              <a:buNone/>
            </a:pPr>
            <a:r>
              <a:rPr b="1" i="0" lang="en" sz="1100" u="none" cap="none" strike="noStrike">
                <a:solidFill>
                  <a:srgbClr val="02C39A"/>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15" name="Google Shape;115;p18"/>
          <p:cNvSpPr/>
          <p:nvPr/>
        </p:nvSpPr>
        <p:spPr>
          <a:xfrm>
            <a:off x="411480" y="1783080"/>
            <a:ext cx="2263140" cy="109728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Core Journey</a:t>
            </a:r>
            <a:endParaRPr b="0" i="0" sz="23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Health</a:t>
            </a:r>
            <a:endParaRPr b="0" i="0" sz="2300" u="none" cap="none" strike="noStrike">
              <a:solidFill>
                <a:schemeClr val="dk1"/>
              </a:solidFill>
              <a:latin typeface="Calibri"/>
              <a:ea typeface="Calibri"/>
              <a:cs typeface="Calibri"/>
              <a:sym typeface="Calibri"/>
            </a:endParaRPr>
          </a:p>
        </p:txBody>
      </p:sp>
      <p:sp>
        <p:nvSpPr>
          <p:cNvPr id="116" name="Google Shape;116;p18"/>
          <p:cNvSpPr/>
          <p:nvPr/>
        </p:nvSpPr>
        <p:spPr>
          <a:xfrm>
            <a:off x="411480" y="2983230"/>
            <a:ext cx="2263140"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CFE9E6"/>
              </a:buClr>
              <a:buSzPts val="900"/>
              <a:buFont typeface="Calibri"/>
              <a:buNone/>
            </a:pPr>
            <a:r>
              <a:rPr b="0" i="0" lang="en" sz="900" u="none" cap="none" strike="noStrike">
                <a:solidFill>
                  <a:srgbClr val="CFE9E6"/>
                </a:solidFill>
                <a:latin typeface="Calibri"/>
                <a:ea typeface="Calibri"/>
                <a:cs typeface="Calibri"/>
                <a:sym typeface="Calibri"/>
              </a:rPr>
              <a:t>Can users get through the core assessment, and how quickly?</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3326130" y="582930"/>
            <a:ext cx="582930" cy="582930"/>
          </a:xfrm>
          <a:prstGeom prst="ellipse">
            <a:avLst/>
          </a:prstGeom>
          <a:solidFill>
            <a:srgbClr val="F4F7F6"/>
          </a:solidFill>
          <a:ln cap="flat" cmpd="sng" w="12700">
            <a:solidFill>
              <a:srgbClr val="02809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18" name="Google Shape;118;p18"/>
          <p:cNvPicPr preferRelativeResize="0"/>
          <p:nvPr/>
        </p:nvPicPr>
        <p:blipFill rotWithShape="1">
          <a:blip r:embed="rId3">
            <a:alphaModFix/>
          </a:blip>
          <a:srcRect b="0" l="0" r="0" t="0"/>
          <a:stretch/>
        </p:blipFill>
        <p:spPr>
          <a:xfrm>
            <a:off x="3449574" y="706374"/>
            <a:ext cx="342900" cy="342900"/>
          </a:xfrm>
          <a:prstGeom prst="rect">
            <a:avLst/>
          </a:prstGeom>
          <a:noFill/>
          <a:ln>
            <a:noFill/>
          </a:ln>
        </p:spPr>
      </p:pic>
      <p:sp>
        <p:nvSpPr>
          <p:cNvPr id="119" name="Google Shape;119;p18"/>
          <p:cNvSpPr/>
          <p:nvPr/>
        </p:nvSpPr>
        <p:spPr>
          <a:xfrm>
            <a:off x="4046220" y="562356"/>
            <a:ext cx="469773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Assessment completion rate</a:t>
            </a:r>
            <a:endParaRPr b="0" i="0" sz="1300" u="none" cap="none" strike="noStrike">
              <a:solidFill>
                <a:schemeClr val="dk1"/>
              </a:solidFill>
              <a:latin typeface="Calibri"/>
              <a:ea typeface="Calibri"/>
              <a:cs typeface="Calibri"/>
              <a:sym typeface="Calibri"/>
            </a:endParaRPr>
          </a:p>
        </p:txBody>
      </p:sp>
      <p:sp>
        <p:nvSpPr>
          <p:cNvPr id="120" name="Google Shape;120;p18"/>
          <p:cNvSpPr/>
          <p:nvPr/>
        </p:nvSpPr>
        <p:spPr>
          <a:xfrm>
            <a:off x="4046220" y="912114"/>
            <a:ext cx="469773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Are users able to finish the core journey?</a:t>
            </a:r>
            <a:endParaRPr b="0" i="0" sz="900" u="none" cap="none" strike="noStrike">
              <a:solidFill>
                <a:schemeClr val="dk1"/>
              </a:solidFill>
              <a:latin typeface="Calibri"/>
              <a:ea typeface="Calibri"/>
              <a:cs typeface="Calibri"/>
              <a:sym typeface="Calibri"/>
            </a:endParaRPr>
          </a:p>
        </p:txBody>
      </p:sp>
      <p:sp>
        <p:nvSpPr>
          <p:cNvPr id="121" name="Google Shape;121;p18"/>
          <p:cNvSpPr/>
          <p:nvPr/>
        </p:nvSpPr>
        <p:spPr>
          <a:xfrm>
            <a:off x="3326130" y="1885950"/>
            <a:ext cx="582930" cy="582930"/>
          </a:xfrm>
          <a:prstGeom prst="ellipse">
            <a:avLst/>
          </a:prstGeom>
          <a:solidFill>
            <a:srgbClr val="F4F7F6"/>
          </a:solidFill>
          <a:ln cap="flat" cmpd="sng" w="12700">
            <a:solidFill>
              <a:srgbClr val="02809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22" name="Google Shape;122;p18"/>
          <p:cNvPicPr preferRelativeResize="0"/>
          <p:nvPr/>
        </p:nvPicPr>
        <p:blipFill rotWithShape="1">
          <a:blip r:embed="rId4">
            <a:alphaModFix/>
          </a:blip>
          <a:srcRect b="0" l="0" r="0" t="0"/>
          <a:stretch/>
        </p:blipFill>
        <p:spPr>
          <a:xfrm>
            <a:off x="3449574" y="2009394"/>
            <a:ext cx="342900" cy="342900"/>
          </a:xfrm>
          <a:prstGeom prst="rect">
            <a:avLst/>
          </a:prstGeom>
          <a:noFill/>
          <a:ln>
            <a:noFill/>
          </a:ln>
        </p:spPr>
      </p:pic>
      <p:sp>
        <p:nvSpPr>
          <p:cNvPr id="123" name="Google Shape;123;p18"/>
          <p:cNvSpPr/>
          <p:nvPr/>
        </p:nvSpPr>
        <p:spPr>
          <a:xfrm>
            <a:off x="4046220" y="1865376"/>
            <a:ext cx="469773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Assessment abandonment by question</a:t>
            </a:r>
            <a:endParaRPr b="0" i="0" sz="1300" u="none" cap="none" strike="noStrike">
              <a:solidFill>
                <a:schemeClr val="dk1"/>
              </a:solidFill>
              <a:latin typeface="Calibri"/>
              <a:ea typeface="Calibri"/>
              <a:cs typeface="Calibri"/>
              <a:sym typeface="Calibri"/>
            </a:endParaRPr>
          </a:p>
        </p:txBody>
      </p:sp>
      <p:sp>
        <p:nvSpPr>
          <p:cNvPr id="124" name="Google Shape;124;p18"/>
          <p:cNvSpPr/>
          <p:nvPr/>
        </p:nvSpPr>
        <p:spPr>
          <a:xfrm>
            <a:off x="4046220" y="2215134"/>
            <a:ext cx="469773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Where is the flow confusing or too long?</a:t>
            </a:r>
            <a:endParaRPr b="0" i="0" sz="900" u="none" cap="none" strike="noStrike">
              <a:solidFill>
                <a:schemeClr val="dk1"/>
              </a:solidFill>
              <a:latin typeface="Calibri"/>
              <a:ea typeface="Calibri"/>
              <a:cs typeface="Calibri"/>
              <a:sym typeface="Calibri"/>
            </a:endParaRPr>
          </a:p>
        </p:txBody>
      </p:sp>
      <p:sp>
        <p:nvSpPr>
          <p:cNvPr id="125" name="Google Shape;125;p18"/>
          <p:cNvSpPr/>
          <p:nvPr/>
        </p:nvSpPr>
        <p:spPr>
          <a:xfrm>
            <a:off x="3326130" y="3188970"/>
            <a:ext cx="582930" cy="582930"/>
          </a:xfrm>
          <a:prstGeom prst="ellipse">
            <a:avLst/>
          </a:prstGeom>
          <a:solidFill>
            <a:srgbClr val="F4F7F6"/>
          </a:solidFill>
          <a:ln cap="flat" cmpd="sng" w="12700">
            <a:solidFill>
              <a:srgbClr val="02809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26" name="Google Shape;126;p18"/>
          <p:cNvPicPr preferRelativeResize="0"/>
          <p:nvPr/>
        </p:nvPicPr>
        <p:blipFill rotWithShape="1">
          <a:blip r:embed="rId5">
            <a:alphaModFix/>
          </a:blip>
          <a:srcRect b="0" l="0" r="0" t="0"/>
          <a:stretch/>
        </p:blipFill>
        <p:spPr>
          <a:xfrm>
            <a:off x="3449574" y="3312414"/>
            <a:ext cx="342900" cy="342900"/>
          </a:xfrm>
          <a:prstGeom prst="rect">
            <a:avLst/>
          </a:prstGeom>
          <a:noFill/>
          <a:ln>
            <a:noFill/>
          </a:ln>
        </p:spPr>
      </p:pic>
      <p:sp>
        <p:nvSpPr>
          <p:cNvPr id="127" name="Google Shape;127;p18"/>
          <p:cNvSpPr/>
          <p:nvPr/>
        </p:nvSpPr>
        <p:spPr>
          <a:xfrm>
            <a:off x="4046220" y="3168396"/>
            <a:ext cx="469773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Median assessment time</a:t>
            </a:r>
            <a:endParaRPr b="0" i="0" sz="1300" u="none" cap="none" strike="noStrike">
              <a:solidFill>
                <a:schemeClr val="dk1"/>
              </a:solidFill>
              <a:latin typeface="Calibri"/>
              <a:ea typeface="Calibri"/>
              <a:cs typeface="Calibri"/>
              <a:sym typeface="Calibri"/>
            </a:endParaRPr>
          </a:p>
        </p:txBody>
      </p:sp>
      <p:sp>
        <p:nvSpPr>
          <p:cNvPr id="128" name="Google Shape;128;p18"/>
          <p:cNvSpPr/>
          <p:nvPr/>
        </p:nvSpPr>
        <p:spPr>
          <a:xfrm>
            <a:off x="4046220" y="3518154"/>
            <a:ext cx="469773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Is the experience becoming more efficient?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C2E"/>
        </a:solidFill>
      </p:bgPr>
    </p:bg>
    <p:spTree>
      <p:nvGrpSpPr>
        <p:cNvPr id="133" name="Shape 133"/>
        <p:cNvGrpSpPr/>
        <p:nvPr/>
      </p:nvGrpSpPr>
      <p:grpSpPr>
        <a:xfrm>
          <a:off x="0" y="0"/>
          <a:ext cx="0" cy="0"/>
          <a:chOff x="0" y="0"/>
          <a:chExt cx="0" cy="0"/>
        </a:xfrm>
      </p:grpSpPr>
      <p:sp>
        <p:nvSpPr>
          <p:cNvPr id="134" name="Google Shape;134;p19"/>
          <p:cNvSpPr/>
          <p:nvPr/>
        </p:nvSpPr>
        <p:spPr>
          <a:xfrm>
            <a:off x="7200900" y="3291840"/>
            <a:ext cx="3429000" cy="3429000"/>
          </a:xfrm>
          <a:prstGeom prst="ellipse">
            <a:avLst/>
          </a:prstGeom>
          <a:solidFill>
            <a:srgbClr val="028090">
              <a:alpha val="45098"/>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9"/>
          <p:cNvSpPr/>
          <p:nvPr/>
        </p:nvSpPr>
        <p:spPr>
          <a:xfrm>
            <a:off x="617220" y="480060"/>
            <a:ext cx="41148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C39A"/>
              </a:buClr>
              <a:buSzPts val="1100"/>
              <a:buFont typeface="Calibri"/>
              <a:buNone/>
            </a:pPr>
            <a:r>
              <a:rPr b="1" i="0" lang="en" sz="1100" u="none" cap="none" strike="noStrike">
                <a:solidFill>
                  <a:srgbClr val="02C39A"/>
                </a:solidFill>
                <a:latin typeface="Calibri"/>
                <a:ea typeface="Calibri"/>
                <a:cs typeface="Calibri"/>
                <a:sym typeface="Calibri"/>
              </a:rPr>
              <a:t> </a:t>
            </a:r>
            <a:r>
              <a:rPr b="1" lang="en" sz="1100">
                <a:solidFill>
                  <a:srgbClr val="02C39A"/>
                </a:solidFill>
                <a:latin typeface="Calibri"/>
                <a:ea typeface="Calibri"/>
                <a:cs typeface="Calibri"/>
                <a:sym typeface="Calibri"/>
              </a:rPr>
              <a:t>Facility Rate</a:t>
            </a:r>
            <a:endParaRPr b="0" i="0" sz="1100" u="none" cap="none" strike="noStrike">
              <a:solidFill>
                <a:schemeClr val="dk1"/>
              </a:solidFill>
              <a:latin typeface="Calibri"/>
              <a:ea typeface="Calibri"/>
              <a:cs typeface="Calibri"/>
              <a:sym typeface="Calibri"/>
            </a:endParaRPr>
          </a:p>
        </p:txBody>
      </p:sp>
      <p:sp>
        <p:nvSpPr>
          <p:cNvPr id="136" name="Google Shape;136;p19"/>
          <p:cNvSpPr/>
          <p:nvPr/>
        </p:nvSpPr>
        <p:spPr>
          <a:xfrm>
            <a:off x="617220" y="1097280"/>
            <a:ext cx="1028700" cy="102870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37" name="Google Shape;137;p19"/>
          <p:cNvPicPr preferRelativeResize="0"/>
          <p:nvPr/>
        </p:nvPicPr>
        <p:blipFill rotWithShape="1">
          <a:blip r:embed="rId3">
            <a:alphaModFix/>
          </a:blip>
          <a:srcRect b="0" l="0" r="0" t="0"/>
          <a:stretch/>
        </p:blipFill>
        <p:spPr>
          <a:xfrm>
            <a:off x="822960" y="1303020"/>
            <a:ext cx="617220" cy="617220"/>
          </a:xfrm>
          <a:prstGeom prst="rect">
            <a:avLst/>
          </a:prstGeom>
          <a:noFill/>
          <a:ln>
            <a:noFill/>
          </a:ln>
        </p:spPr>
      </p:pic>
      <p:sp>
        <p:nvSpPr>
          <p:cNvPr id="138" name="Google Shape;138;p19"/>
          <p:cNvSpPr/>
          <p:nvPr/>
        </p:nvSpPr>
        <p:spPr>
          <a:xfrm>
            <a:off x="1885950" y="1062990"/>
            <a:ext cx="6515100" cy="106299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b="1" lang="en" sz="1100">
                <a:solidFill>
                  <a:schemeClr val="lt1"/>
                </a:solidFill>
              </a:rPr>
              <a:t>Facility Match &amp; Availability Rate:</a:t>
            </a:r>
            <a:endParaRPr b="0" i="0" sz="2400" u="none" cap="none" strike="noStrike">
              <a:solidFill>
                <a:schemeClr val="lt1"/>
              </a:solidFill>
              <a:latin typeface="Calibri"/>
              <a:ea typeface="Calibri"/>
              <a:cs typeface="Calibri"/>
              <a:sym typeface="Calibri"/>
            </a:endParaRPr>
          </a:p>
        </p:txBody>
      </p:sp>
      <p:sp>
        <p:nvSpPr>
          <p:cNvPr id="139" name="Google Shape;139;p19"/>
          <p:cNvSpPr/>
          <p:nvPr/>
        </p:nvSpPr>
        <p:spPr>
          <a:xfrm>
            <a:off x="617220" y="2777490"/>
            <a:ext cx="7886700" cy="1783080"/>
          </a:xfrm>
          <a:prstGeom prst="roundRect">
            <a:avLst>
              <a:gd fmla="val 3077" name="adj"/>
            </a:avLst>
          </a:prstGeom>
          <a:solidFill>
            <a:srgbClr val="123B3E"/>
          </a:solidFill>
          <a:ln cap="flat" cmpd="sng" w="12700">
            <a:solidFill>
              <a:srgbClr val="02809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9"/>
          <p:cNvSpPr/>
          <p:nvPr/>
        </p:nvSpPr>
        <p:spPr>
          <a:xfrm>
            <a:off x="925825" y="2777500"/>
            <a:ext cx="7269600" cy="16458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lt1"/>
                </a:solidFill>
              </a:rPr>
              <a:t>This Measures whether users are directed to the right healthcare facility based on their needs, with backup options provided if the first facility is unavailable, closed, or does not have the required service/doctor available.</a:t>
            </a:r>
            <a:endParaRPr sz="1100">
              <a:solidFill>
                <a:schemeClr val="lt1"/>
              </a:solidFill>
            </a:endParaRPr>
          </a:p>
          <a:p>
            <a:pPr indent="0" lvl="0" marL="0" rtl="0" algn="l">
              <a:lnSpc>
                <a:spcPct val="135000"/>
              </a:lnSpc>
              <a:spcBef>
                <a:spcPts val="1200"/>
              </a:spcBef>
              <a:spcAft>
                <a:spcPts val="0"/>
              </a:spcAft>
              <a:buClr>
                <a:srgbClr val="E6F2F1"/>
              </a:buClr>
              <a:buSzPts val="1100"/>
              <a:buFont typeface="Calibri"/>
              <a:buNone/>
            </a:pPr>
            <a:r>
              <a:rPr lang="en" sz="1100">
                <a:solidFill>
                  <a:srgbClr val="E6F2F1"/>
                </a:solidFill>
                <a:latin typeface="Calibri"/>
                <a:ea typeface="Calibri"/>
                <a:cs typeface="Calibri"/>
                <a:sym typeface="Calibri"/>
              </a:rPr>
              <a:t>Privacy and confidentiality of questions asked by patients to be encrypted and be immune to leaks.</a:t>
            </a:r>
            <a:endParaRPr sz="11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lt1"/>
                </a:solidFill>
              </a:rPr>
              <a:t>Success question:</a:t>
            </a:r>
            <a:r>
              <a:rPr lang="en" sz="1100">
                <a:solidFill>
                  <a:schemeClr val="lt1"/>
                </a:solidFill>
              </a:rPr>
              <a:t> </a:t>
            </a:r>
            <a:r>
              <a:rPr i="1" lang="en" sz="1100">
                <a:solidFill>
                  <a:schemeClr val="lt1"/>
                </a:solidFill>
              </a:rPr>
              <a:t>Can users always find an appropriate place to get care without reaching a dead end?</a:t>
            </a:r>
            <a:endParaRPr i="1" sz="1100">
              <a:solidFill>
                <a:schemeClr val="lt1"/>
              </a:solidFill>
            </a:endParaRPr>
          </a:p>
          <a:p>
            <a:pPr indent="0" lvl="0" marL="0" marR="0" rtl="0" algn="l">
              <a:lnSpc>
                <a:spcPct val="135000"/>
              </a:lnSpc>
              <a:spcBef>
                <a:spcPts val="1200"/>
              </a:spcBef>
              <a:spcAft>
                <a:spcPts val="0"/>
              </a:spcAft>
              <a:buClr>
                <a:srgbClr val="E6F2F1"/>
              </a:buClr>
              <a:buSzPts val="1100"/>
              <a:buFont typeface="Calibri"/>
              <a:buNone/>
            </a:pPr>
            <a:r>
              <a:t/>
            </a:r>
            <a:endParaRPr sz="1100">
              <a:solidFill>
                <a:srgbClr val="E6F2F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6"/>
        </a:solidFill>
      </p:bgPr>
    </p:bg>
    <p:spTree>
      <p:nvGrpSpPr>
        <p:cNvPr id="145" name="Shape 145"/>
        <p:cNvGrpSpPr/>
        <p:nvPr/>
      </p:nvGrpSpPr>
      <p:grpSpPr>
        <a:xfrm>
          <a:off x="0" y="0"/>
          <a:ext cx="0" cy="0"/>
          <a:chOff x="0" y="0"/>
          <a:chExt cx="0" cy="0"/>
        </a:xfrm>
      </p:grpSpPr>
      <p:sp>
        <p:nvSpPr>
          <p:cNvPr id="146" name="Google Shape;146;p20"/>
          <p:cNvSpPr/>
          <p:nvPr/>
        </p:nvSpPr>
        <p:spPr>
          <a:xfrm>
            <a:off x="480060" y="377190"/>
            <a:ext cx="68580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000"/>
              <a:buFont typeface="Calibri"/>
              <a:buNone/>
            </a:pPr>
            <a:r>
              <a:rPr b="1" i="0" lang="en" sz="1000" u="none" cap="none" strike="noStrike">
                <a:solidFill>
                  <a:srgbClr val="028090"/>
                </a:solidFill>
                <a:latin typeface="Calibri"/>
                <a:ea typeface="Calibri"/>
                <a:cs typeface="Calibri"/>
                <a:sym typeface="Calibri"/>
              </a:rPr>
              <a:t> Care Navigation &amp; Retention</a:t>
            </a:r>
            <a:endParaRPr b="0" i="0" sz="1000" u="none" cap="none" strike="noStrike">
              <a:solidFill>
                <a:schemeClr val="dk1"/>
              </a:solidFill>
              <a:latin typeface="Calibri"/>
              <a:ea typeface="Calibri"/>
              <a:cs typeface="Calibri"/>
              <a:sym typeface="Calibri"/>
            </a:endParaRPr>
          </a:p>
        </p:txBody>
      </p:sp>
      <p:sp>
        <p:nvSpPr>
          <p:cNvPr id="147" name="Google Shape;147;p20"/>
          <p:cNvSpPr/>
          <p:nvPr/>
        </p:nvSpPr>
        <p:spPr>
          <a:xfrm>
            <a:off x="480060" y="651510"/>
            <a:ext cx="75438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1800"/>
              <a:buFont typeface="Cambria"/>
              <a:buNone/>
            </a:pPr>
            <a:r>
              <a:rPr b="1" i="0" lang="en" sz="1800" u="none" cap="none" strike="noStrike">
                <a:solidFill>
                  <a:srgbClr val="0C2C2E"/>
                </a:solidFill>
                <a:latin typeface="Cambria"/>
                <a:ea typeface="Cambria"/>
                <a:cs typeface="Cambria"/>
                <a:sym typeface="Cambria"/>
              </a:rPr>
              <a:t>Does the app move people to care and do they come back satisfied?</a:t>
            </a:r>
            <a:endParaRPr b="0" i="0" sz="1800" u="none" cap="none" strike="noStrike">
              <a:solidFill>
                <a:schemeClr val="dk1"/>
              </a:solidFill>
              <a:latin typeface="Calibri"/>
              <a:ea typeface="Calibri"/>
              <a:cs typeface="Calibri"/>
              <a:sym typeface="Calibri"/>
            </a:endParaRPr>
          </a:p>
        </p:txBody>
      </p:sp>
      <p:sp>
        <p:nvSpPr>
          <p:cNvPr id="148" name="Google Shape;148;p20"/>
          <p:cNvSpPr/>
          <p:nvPr/>
        </p:nvSpPr>
        <p:spPr>
          <a:xfrm>
            <a:off x="480060" y="1405890"/>
            <a:ext cx="2571750" cy="2983230"/>
          </a:xfrm>
          <a:prstGeom prst="roundRect">
            <a:avLst>
              <a:gd fmla="val 2667" name="adj"/>
            </a:avLst>
          </a:prstGeom>
          <a:solidFill>
            <a:srgbClr val="FFFFFF"/>
          </a:solidFill>
          <a:ln>
            <a:noFill/>
          </a:ln>
          <a:effectLst>
            <a:outerShdw blurRad="88900" rotWithShape="0" algn="bl" dir="5400000" dist="25400">
              <a:srgbClr val="1B3A3D">
                <a:alpha val="1607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20"/>
          <p:cNvSpPr/>
          <p:nvPr/>
        </p:nvSpPr>
        <p:spPr>
          <a:xfrm>
            <a:off x="720090" y="1645920"/>
            <a:ext cx="651510" cy="651510"/>
          </a:xfrm>
          <a:prstGeom prst="ellipse">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50" name="Google Shape;150;p20"/>
          <p:cNvPicPr preferRelativeResize="0"/>
          <p:nvPr/>
        </p:nvPicPr>
        <p:blipFill rotWithShape="1">
          <a:blip r:embed="rId3">
            <a:alphaModFix/>
          </a:blip>
          <a:srcRect b="0" l="0" r="0" t="0"/>
          <a:stretch/>
        </p:blipFill>
        <p:spPr>
          <a:xfrm>
            <a:off x="870966" y="1796796"/>
            <a:ext cx="356616" cy="356616"/>
          </a:xfrm>
          <a:prstGeom prst="rect">
            <a:avLst/>
          </a:prstGeom>
          <a:noFill/>
          <a:ln>
            <a:noFill/>
          </a:ln>
        </p:spPr>
      </p:pic>
      <p:sp>
        <p:nvSpPr>
          <p:cNvPr id="151" name="Google Shape;151;p20"/>
          <p:cNvSpPr/>
          <p:nvPr/>
        </p:nvSpPr>
        <p:spPr>
          <a:xfrm>
            <a:off x="720090" y="2468880"/>
            <a:ext cx="2091690" cy="92583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Facility view-to-call / directions rate</a:t>
            </a:r>
            <a:endParaRPr b="0" i="0" sz="1300" u="none" cap="none" strike="noStrike">
              <a:solidFill>
                <a:schemeClr val="dk1"/>
              </a:solidFill>
              <a:latin typeface="Calibri"/>
              <a:ea typeface="Calibri"/>
              <a:cs typeface="Calibri"/>
              <a:sym typeface="Calibri"/>
            </a:endParaRPr>
          </a:p>
        </p:txBody>
      </p:sp>
      <p:cxnSp>
        <p:nvCxnSpPr>
          <p:cNvPr id="152" name="Google Shape;152;p20"/>
          <p:cNvCxnSpPr/>
          <p:nvPr/>
        </p:nvCxnSpPr>
        <p:spPr>
          <a:xfrm>
            <a:off x="720090" y="3463290"/>
            <a:ext cx="2091690" cy="0"/>
          </a:xfrm>
          <a:prstGeom prst="straightConnector1">
            <a:avLst/>
          </a:prstGeom>
          <a:noFill/>
          <a:ln cap="flat" cmpd="sng" w="12700">
            <a:solidFill>
              <a:srgbClr val="DDE7E6"/>
            </a:solidFill>
            <a:prstDash val="solid"/>
            <a:round/>
            <a:headEnd len="sm" w="sm" type="none"/>
            <a:tailEnd len="sm" w="sm" type="none"/>
          </a:ln>
        </p:spPr>
      </p:cxnSp>
      <p:sp>
        <p:nvSpPr>
          <p:cNvPr id="153" name="Google Shape;153;p20"/>
          <p:cNvSpPr/>
          <p:nvPr/>
        </p:nvSpPr>
        <p:spPr>
          <a:xfrm>
            <a:off x="720090" y="3586734"/>
            <a:ext cx="209169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Does care navigation lead to action?</a:t>
            </a:r>
            <a:endParaRPr b="0" i="0" sz="900" u="none" cap="none" strike="noStrike">
              <a:solidFill>
                <a:schemeClr val="dk1"/>
              </a:solidFill>
              <a:latin typeface="Calibri"/>
              <a:ea typeface="Calibri"/>
              <a:cs typeface="Calibri"/>
              <a:sym typeface="Calibri"/>
            </a:endParaRPr>
          </a:p>
        </p:txBody>
      </p:sp>
      <p:sp>
        <p:nvSpPr>
          <p:cNvPr id="154" name="Google Shape;154;p20"/>
          <p:cNvSpPr/>
          <p:nvPr/>
        </p:nvSpPr>
        <p:spPr>
          <a:xfrm>
            <a:off x="3216402" y="1405890"/>
            <a:ext cx="2571750" cy="2983230"/>
          </a:xfrm>
          <a:prstGeom prst="roundRect">
            <a:avLst>
              <a:gd fmla="val 2667" name="adj"/>
            </a:avLst>
          </a:prstGeom>
          <a:solidFill>
            <a:srgbClr val="FFFFFF"/>
          </a:solidFill>
          <a:ln>
            <a:noFill/>
          </a:ln>
          <a:effectLst>
            <a:outerShdw blurRad="88900" rotWithShape="0" algn="bl" dir="5400000" dist="25400">
              <a:srgbClr val="1B3A3D">
                <a:alpha val="1607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20"/>
          <p:cNvSpPr/>
          <p:nvPr/>
        </p:nvSpPr>
        <p:spPr>
          <a:xfrm>
            <a:off x="3456432" y="1645920"/>
            <a:ext cx="651510" cy="65151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56" name="Google Shape;156;p20"/>
          <p:cNvPicPr preferRelativeResize="0"/>
          <p:nvPr/>
        </p:nvPicPr>
        <p:blipFill rotWithShape="1">
          <a:blip r:embed="rId4">
            <a:alphaModFix/>
          </a:blip>
          <a:srcRect b="0" l="0" r="0" t="0"/>
          <a:stretch/>
        </p:blipFill>
        <p:spPr>
          <a:xfrm>
            <a:off x="3607308" y="1796796"/>
            <a:ext cx="356616" cy="356616"/>
          </a:xfrm>
          <a:prstGeom prst="rect">
            <a:avLst/>
          </a:prstGeom>
          <a:noFill/>
          <a:ln>
            <a:noFill/>
          </a:ln>
        </p:spPr>
      </p:pic>
      <p:sp>
        <p:nvSpPr>
          <p:cNvPr id="157" name="Google Shape;157;p20"/>
          <p:cNvSpPr/>
          <p:nvPr/>
        </p:nvSpPr>
        <p:spPr>
          <a:xfrm>
            <a:off x="3456432" y="2468880"/>
            <a:ext cx="2091690" cy="92583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7-day and 30-day return rate for feedback</a:t>
            </a:r>
            <a:endParaRPr b="0" i="0" sz="1300" u="none" cap="none" strike="noStrike">
              <a:solidFill>
                <a:schemeClr val="dk1"/>
              </a:solidFill>
              <a:latin typeface="Calibri"/>
              <a:ea typeface="Calibri"/>
              <a:cs typeface="Calibri"/>
              <a:sym typeface="Calibri"/>
            </a:endParaRPr>
          </a:p>
        </p:txBody>
      </p:sp>
      <p:cxnSp>
        <p:nvCxnSpPr>
          <p:cNvPr id="158" name="Google Shape;158;p20"/>
          <p:cNvCxnSpPr/>
          <p:nvPr/>
        </p:nvCxnSpPr>
        <p:spPr>
          <a:xfrm>
            <a:off x="3456432" y="3463290"/>
            <a:ext cx="2091690" cy="0"/>
          </a:xfrm>
          <a:prstGeom prst="straightConnector1">
            <a:avLst/>
          </a:prstGeom>
          <a:noFill/>
          <a:ln cap="flat" cmpd="sng" w="12700">
            <a:solidFill>
              <a:srgbClr val="DDE7E6"/>
            </a:solidFill>
            <a:prstDash val="solid"/>
            <a:round/>
            <a:headEnd len="sm" w="sm" type="none"/>
            <a:tailEnd len="sm" w="sm" type="none"/>
          </a:ln>
        </p:spPr>
      </p:cxnSp>
      <p:sp>
        <p:nvSpPr>
          <p:cNvPr id="159" name="Google Shape;159;p20"/>
          <p:cNvSpPr/>
          <p:nvPr/>
        </p:nvSpPr>
        <p:spPr>
          <a:xfrm>
            <a:off x="3456432" y="3586734"/>
            <a:ext cx="209169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Is WellaPath creating repeat value?</a:t>
            </a:r>
            <a:endParaRPr b="0" i="0" sz="900" u="none" cap="none" strike="noStrike">
              <a:solidFill>
                <a:schemeClr val="dk1"/>
              </a:solidFill>
              <a:latin typeface="Calibri"/>
              <a:ea typeface="Calibri"/>
              <a:cs typeface="Calibri"/>
              <a:sym typeface="Calibri"/>
            </a:endParaRPr>
          </a:p>
        </p:txBody>
      </p:sp>
      <p:sp>
        <p:nvSpPr>
          <p:cNvPr id="160" name="Google Shape;160;p20"/>
          <p:cNvSpPr/>
          <p:nvPr/>
        </p:nvSpPr>
        <p:spPr>
          <a:xfrm>
            <a:off x="5952744" y="1405890"/>
            <a:ext cx="2571750" cy="2983230"/>
          </a:xfrm>
          <a:prstGeom prst="roundRect">
            <a:avLst>
              <a:gd fmla="val 2667" name="adj"/>
            </a:avLst>
          </a:prstGeom>
          <a:solidFill>
            <a:srgbClr val="FFFFFF"/>
          </a:solidFill>
          <a:ln>
            <a:noFill/>
          </a:ln>
          <a:effectLst>
            <a:outerShdw blurRad="88900" rotWithShape="0" algn="bl" dir="5400000" dist="25400">
              <a:srgbClr val="1B3A3D">
                <a:alpha val="16078"/>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0"/>
          <p:cNvSpPr/>
          <p:nvPr/>
        </p:nvSpPr>
        <p:spPr>
          <a:xfrm>
            <a:off x="6192774" y="1645920"/>
            <a:ext cx="651510" cy="651510"/>
          </a:xfrm>
          <a:prstGeom prst="ellipse">
            <a:avLst/>
          </a:prstGeom>
          <a:solidFill>
            <a:srgbClr val="00A89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62" name="Google Shape;162;p20"/>
          <p:cNvPicPr preferRelativeResize="0"/>
          <p:nvPr/>
        </p:nvPicPr>
        <p:blipFill rotWithShape="1">
          <a:blip r:embed="rId5">
            <a:alphaModFix/>
          </a:blip>
          <a:srcRect b="0" l="0" r="0" t="0"/>
          <a:stretch/>
        </p:blipFill>
        <p:spPr>
          <a:xfrm>
            <a:off x="6343650" y="1796796"/>
            <a:ext cx="356616" cy="356616"/>
          </a:xfrm>
          <a:prstGeom prst="rect">
            <a:avLst/>
          </a:prstGeom>
          <a:noFill/>
          <a:ln>
            <a:noFill/>
          </a:ln>
        </p:spPr>
      </p:pic>
      <p:sp>
        <p:nvSpPr>
          <p:cNvPr id="163" name="Google Shape;163;p20"/>
          <p:cNvSpPr/>
          <p:nvPr/>
        </p:nvSpPr>
        <p:spPr>
          <a:xfrm>
            <a:off x="6192774" y="2468880"/>
            <a:ext cx="2091690" cy="92583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0C2C2E"/>
              </a:buClr>
              <a:buSzPts val="1300"/>
              <a:buFont typeface="Calibri"/>
              <a:buNone/>
            </a:pPr>
            <a:r>
              <a:rPr b="1" i="0" lang="en" sz="1300" u="none" cap="none" strike="noStrike">
                <a:solidFill>
                  <a:srgbClr val="0C2C2E"/>
                </a:solidFill>
                <a:latin typeface="Calibri"/>
                <a:ea typeface="Calibri"/>
                <a:cs typeface="Calibri"/>
                <a:sym typeface="Calibri"/>
              </a:rPr>
              <a:t>Health-library engagement</a:t>
            </a:r>
            <a:endParaRPr b="0" i="0" sz="1300" u="none" cap="none" strike="noStrike">
              <a:solidFill>
                <a:schemeClr val="dk1"/>
              </a:solidFill>
              <a:latin typeface="Calibri"/>
              <a:ea typeface="Calibri"/>
              <a:cs typeface="Calibri"/>
              <a:sym typeface="Calibri"/>
            </a:endParaRPr>
          </a:p>
        </p:txBody>
      </p:sp>
      <p:cxnSp>
        <p:nvCxnSpPr>
          <p:cNvPr id="164" name="Google Shape;164;p20"/>
          <p:cNvCxnSpPr/>
          <p:nvPr/>
        </p:nvCxnSpPr>
        <p:spPr>
          <a:xfrm>
            <a:off x="6192774" y="3463290"/>
            <a:ext cx="2091690" cy="0"/>
          </a:xfrm>
          <a:prstGeom prst="straightConnector1">
            <a:avLst/>
          </a:prstGeom>
          <a:noFill/>
          <a:ln cap="flat" cmpd="sng" w="12700">
            <a:solidFill>
              <a:srgbClr val="DDE7E6"/>
            </a:solidFill>
            <a:prstDash val="solid"/>
            <a:round/>
            <a:headEnd len="sm" w="sm" type="none"/>
            <a:tailEnd len="sm" w="sm" type="none"/>
          </a:ln>
        </p:spPr>
      </p:cxnSp>
      <p:sp>
        <p:nvSpPr>
          <p:cNvPr id="165" name="Google Shape;165;p20"/>
          <p:cNvSpPr/>
          <p:nvPr/>
        </p:nvSpPr>
        <p:spPr>
          <a:xfrm>
            <a:off x="6192774" y="3586734"/>
            <a:ext cx="209169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5C7A7C"/>
              </a:buClr>
              <a:buSzPts val="900"/>
              <a:buFont typeface="Calibri"/>
              <a:buNone/>
            </a:pPr>
            <a:r>
              <a:rPr b="0" i="1" lang="en" sz="900" u="none" cap="none" strike="noStrike">
                <a:solidFill>
                  <a:srgbClr val="5C7A7C"/>
                </a:solidFill>
                <a:latin typeface="Calibri"/>
                <a:ea typeface="Calibri"/>
                <a:cs typeface="Calibri"/>
                <a:sym typeface="Calibri"/>
              </a:rPr>
              <a:t>What information do users actually want?</a:t>
            </a:r>
            <a:endParaRPr b="0" i="1" sz="900" u="none" cap="none" strike="noStrike">
              <a:solidFill>
                <a:srgbClr val="5C7A7C"/>
              </a:solidFill>
              <a:latin typeface="Calibri"/>
              <a:ea typeface="Calibri"/>
              <a:cs typeface="Calibri"/>
              <a:sym typeface="Calibri"/>
            </a:endParaRPr>
          </a:p>
          <a:p>
            <a:pPr indent="0" lvl="0" marL="0" marR="0" rtl="0" algn="l">
              <a:lnSpc>
                <a:spcPct val="125000"/>
              </a:lnSpc>
              <a:spcBef>
                <a:spcPts val="0"/>
              </a:spcBef>
              <a:spcAft>
                <a:spcPts val="0"/>
              </a:spcAft>
              <a:buClr>
                <a:srgbClr val="5C7A7C"/>
              </a:buClr>
              <a:buSzPts val="900"/>
              <a:buFont typeface="Calibri"/>
              <a:buNone/>
            </a:pPr>
            <a:r>
              <a:rPr i="1" lang="en" sz="900">
                <a:solidFill>
                  <a:srgbClr val="5C7A7C"/>
                </a:solidFill>
                <a:latin typeface="Calibri"/>
                <a:ea typeface="Calibri"/>
                <a:cs typeface="Calibri"/>
                <a:sym typeface="Calibri"/>
              </a:rPr>
              <a:t>What questions are they asking the most?</a:t>
            </a:r>
            <a:endParaRPr i="1" sz="900">
              <a:solidFill>
                <a:srgbClr val="5C7A7C"/>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1"/>
          <p:cNvSpPr/>
          <p:nvPr/>
        </p:nvSpPr>
        <p:spPr>
          <a:xfrm>
            <a:off x="480060" y="377190"/>
            <a:ext cx="68580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28090"/>
              </a:buClr>
              <a:buSzPts val="1000"/>
              <a:buFont typeface="Calibri"/>
              <a:buNone/>
            </a:pPr>
            <a:r>
              <a:rPr b="1" i="0" lang="en" sz="1000" u="none" cap="none" strike="noStrike">
                <a:solidFill>
                  <a:srgbClr val="028090"/>
                </a:solidFill>
                <a:latin typeface="Calibri"/>
                <a:ea typeface="Calibri"/>
                <a:cs typeface="Calibri"/>
                <a:sym typeface="Calibri"/>
              </a:rPr>
              <a:t>Outcome Quality &amp; Reach</a:t>
            </a:r>
            <a:endParaRPr b="0" i="0" sz="1000" u="none" cap="none" strike="noStrike">
              <a:solidFill>
                <a:schemeClr val="dk1"/>
              </a:solidFill>
              <a:latin typeface="Calibri"/>
              <a:ea typeface="Calibri"/>
              <a:cs typeface="Calibri"/>
              <a:sym typeface="Calibri"/>
            </a:endParaRPr>
          </a:p>
        </p:txBody>
      </p:sp>
      <p:sp>
        <p:nvSpPr>
          <p:cNvPr id="172" name="Google Shape;172;p21"/>
          <p:cNvSpPr/>
          <p:nvPr/>
        </p:nvSpPr>
        <p:spPr>
          <a:xfrm>
            <a:off x="480060" y="651510"/>
            <a:ext cx="788670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C2C2E"/>
              </a:buClr>
              <a:buSzPts val="1800"/>
              <a:buFont typeface="Cambria"/>
              <a:buNone/>
            </a:pPr>
            <a:r>
              <a:rPr b="1" i="0" lang="en" sz="1800" u="none" cap="none" strike="noStrike">
                <a:solidFill>
                  <a:srgbClr val="0C2C2E"/>
                </a:solidFill>
                <a:latin typeface="Cambria"/>
                <a:ea typeface="Cambria"/>
                <a:cs typeface="Cambria"/>
                <a:sym typeface="Cambria"/>
              </a:rPr>
              <a:t>Do people understand the result</a:t>
            </a:r>
            <a:r>
              <a:rPr b="1" lang="en" sz="1800">
                <a:solidFill>
                  <a:srgbClr val="0C2C2E"/>
                </a:solidFill>
                <a:latin typeface="Cambria"/>
                <a:ea typeface="Cambria"/>
                <a:cs typeface="Cambria"/>
                <a:sym typeface="Cambria"/>
              </a:rPr>
              <a:t>? </a:t>
            </a:r>
            <a:r>
              <a:rPr b="1" i="0" lang="en" sz="1800" u="none" cap="none" strike="noStrike">
                <a:solidFill>
                  <a:srgbClr val="0C2C2E"/>
                </a:solidFill>
                <a:latin typeface="Cambria"/>
                <a:ea typeface="Cambria"/>
                <a:cs typeface="Cambria"/>
                <a:sym typeface="Cambria"/>
              </a:rPr>
              <a:t>and where is demand?</a:t>
            </a:r>
            <a:endParaRPr b="0" i="0" sz="1800" u="none" cap="none" strike="noStrike">
              <a:solidFill>
                <a:schemeClr val="dk1"/>
              </a:solidFill>
              <a:latin typeface="Calibri"/>
              <a:ea typeface="Calibri"/>
              <a:cs typeface="Calibri"/>
              <a:sym typeface="Calibri"/>
            </a:endParaRPr>
          </a:p>
        </p:txBody>
      </p:sp>
      <p:sp>
        <p:nvSpPr>
          <p:cNvPr id="173" name="Google Shape;173;p21"/>
          <p:cNvSpPr/>
          <p:nvPr/>
        </p:nvSpPr>
        <p:spPr>
          <a:xfrm>
            <a:off x="480060" y="1371600"/>
            <a:ext cx="3909060" cy="3154680"/>
          </a:xfrm>
          <a:prstGeom prst="roundRect">
            <a:avLst>
              <a:gd fmla="val 2174" name="adj"/>
            </a:avLst>
          </a:prstGeom>
          <a:solidFill>
            <a:srgbClr val="0C2C2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1"/>
          <p:cNvSpPr/>
          <p:nvPr/>
        </p:nvSpPr>
        <p:spPr>
          <a:xfrm>
            <a:off x="754380" y="1645920"/>
            <a:ext cx="754380" cy="754380"/>
          </a:xfrm>
          <a:prstGeom prst="ellipse">
            <a:avLst/>
          </a:prstGeom>
          <a:solidFill>
            <a:srgbClr val="02C39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75" name="Google Shape;175;p21"/>
          <p:cNvPicPr preferRelativeResize="0"/>
          <p:nvPr/>
        </p:nvPicPr>
        <p:blipFill rotWithShape="1">
          <a:blip r:embed="rId3">
            <a:alphaModFix/>
          </a:blip>
          <a:srcRect b="0" l="0" r="0" t="0"/>
          <a:stretch/>
        </p:blipFill>
        <p:spPr>
          <a:xfrm>
            <a:off x="925830" y="1817370"/>
            <a:ext cx="411480" cy="411480"/>
          </a:xfrm>
          <a:prstGeom prst="rect">
            <a:avLst/>
          </a:prstGeom>
          <a:noFill/>
          <a:ln>
            <a:noFill/>
          </a:ln>
        </p:spPr>
      </p:pic>
      <p:sp>
        <p:nvSpPr>
          <p:cNvPr id="176" name="Google Shape;176;p21"/>
          <p:cNvSpPr/>
          <p:nvPr/>
        </p:nvSpPr>
        <p:spPr>
          <a:xfrm>
            <a:off x="720090" y="2503170"/>
            <a:ext cx="336042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Helpful-result rating</a:t>
            </a:r>
            <a:endParaRPr b="0" i="0" sz="1500" u="none" cap="none" strike="noStrike">
              <a:solidFill>
                <a:schemeClr val="dk1"/>
              </a:solidFill>
              <a:latin typeface="Calibri"/>
              <a:ea typeface="Calibri"/>
              <a:cs typeface="Calibri"/>
              <a:sym typeface="Calibri"/>
            </a:endParaRPr>
          </a:p>
        </p:txBody>
      </p:sp>
      <p:sp>
        <p:nvSpPr>
          <p:cNvPr id="177" name="Google Shape;177;p21"/>
          <p:cNvSpPr/>
          <p:nvPr/>
        </p:nvSpPr>
        <p:spPr>
          <a:xfrm>
            <a:off x="720090" y="2948940"/>
            <a:ext cx="336042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FE9E6"/>
              </a:buClr>
              <a:buSzPts val="1000"/>
              <a:buFont typeface="Calibri"/>
              <a:buNone/>
            </a:pPr>
            <a:r>
              <a:rPr b="0" i="1" lang="en" sz="1000" u="none" cap="none" strike="noStrike">
                <a:solidFill>
                  <a:srgbClr val="CFE9E6"/>
                </a:solidFill>
                <a:latin typeface="Calibri"/>
                <a:ea typeface="Calibri"/>
                <a:cs typeface="Calibri"/>
                <a:sym typeface="Calibri"/>
              </a:rPr>
              <a:t>Do users understand what to do next?</a:t>
            </a:r>
            <a:endParaRPr b="0" i="0" sz="1000" u="none" cap="none" strike="noStrike">
              <a:solidFill>
                <a:schemeClr val="dk1"/>
              </a:solidFill>
              <a:latin typeface="Calibri"/>
              <a:ea typeface="Calibri"/>
              <a:cs typeface="Calibri"/>
              <a:sym typeface="Calibri"/>
            </a:endParaRPr>
          </a:p>
        </p:txBody>
      </p:sp>
      <p:sp>
        <p:nvSpPr>
          <p:cNvPr id="178" name="Google Shape;178;p21"/>
          <p:cNvSpPr/>
          <p:nvPr/>
        </p:nvSpPr>
        <p:spPr>
          <a:xfrm>
            <a:off x="720090" y="3429000"/>
            <a:ext cx="3360420" cy="89154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A9C7C5"/>
              </a:buClr>
              <a:buSzPts val="900"/>
              <a:buFont typeface="Calibri"/>
              <a:buNone/>
            </a:pPr>
            <a:r>
              <a:rPr b="0" i="0" lang="en" sz="900" u="none" cap="none" strike="noStrike">
                <a:solidFill>
                  <a:srgbClr val="A9C7C5"/>
                </a:solidFill>
                <a:latin typeface="Calibri"/>
                <a:ea typeface="Calibri"/>
                <a:cs typeface="Calibri"/>
                <a:sym typeface="Calibri"/>
              </a:rPr>
              <a:t>Captured via the post-assessment feedback prompt: helpful / not helpful, confidence in next step, and an optional comment.</a:t>
            </a:r>
            <a:endParaRPr b="0" i="0" sz="900" u="none" cap="none" strike="noStrike">
              <a:solidFill>
                <a:schemeClr val="dk1"/>
              </a:solidFill>
              <a:latin typeface="Calibri"/>
              <a:ea typeface="Calibri"/>
              <a:cs typeface="Calibri"/>
              <a:sym typeface="Calibri"/>
            </a:endParaRPr>
          </a:p>
        </p:txBody>
      </p:sp>
      <p:sp>
        <p:nvSpPr>
          <p:cNvPr id="179" name="Google Shape;179;p21"/>
          <p:cNvSpPr/>
          <p:nvPr/>
        </p:nvSpPr>
        <p:spPr>
          <a:xfrm>
            <a:off x="4526280" y="1371600"/>
            <a:ext cx="4114800" cy="3154680"/>
          </a:xfrm>
          <a:prstGeom prst="roundRect">
            <a:avLst>
              <a:gd fmla="val 2174" name="adj"/>
            </a:avLst>
          </a:prstGeom>
          <a:solidFill>
            <a:srgbClr val="F4F7F6"/>
          </a:solidFill>
          <a:ln cap="flat" cmpd="sng" w="12700">
            <a:solidFill>
              <a:srgbClr val="DDE7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21"/>
          <p:cNvSpPr/>
          <p:nvPr/>
        </p:nvSpPr>
        <p:spPr>
          <a:xfrm>
            <a:off x="4800600" y="1645920"/>
            <a:ext cx="754380" cy="754380"/>
          </a:xfrm>
          <a:prstGeom prst="ellipse">
            <a:avLst/>
          </a:prstGeom>
          <a:solidFill>
            <a:srgbClr val="02809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81" name="Google Shape;181;p21"/>
          <p:cNvPicPr preferRelativeResize="0"/>
          <p:nvPr/>
        </p:nvPicPr>
        <p:blipFill rotWithShape="1">
          <a:blip r:embed="rId4">
            <a:alphaModFix/>
          </a:blip>
          <a:srcRect b="0" l="0" r="0" t="0"/>
          <a:stretch/>
        </p:blipFill>
        <p:spPr>
          <a:xfrm>
            <a:off x="4972050" y="1817370"/>
            <a:ext cx="411480" cy="411480"/>
          </a:xfrm>
          <a:prstGeom prst="rect">
            <a:avLst/>
          </a:prstGeom>
          <a:noFill/>
          <a:ln>
            <a:noFill/>
          </a:ln>
        </p:spPr>
      </p:pic>
      <p:sp>
        <p:nvSpPr>
          <p:cNvPr id="182" name="Google Shape;182;p21"/>
          <p:cNvSpPr/>
          <p:nvPr/>
        </p:nvSpPr>
        <p:spPr>
          <a:xfrm>
            <a:off x="4766310" y="2503170"/>
            <a:ext cx="3634740" cy="651510"/>
          </a:xfrm>
          <a:prstGeom prst="rect">
            <a:avLst/>
          </a:prstGeom>
          <a:noFill/>
          <a:ln>
            <a:noFill/>
          </a:ln>
        </p:spPr>
        <p:txBody>
          <a:bodyPr anchorCtr="0" anchor="ctr" bIns="34275" lIns="68575" spcFirstLastPara="1" rIns="68575" wrap="square" tIns="34275">
            <a:noAutofit/>
          </a:bodyPr>
          <a:lstStyle/>
          <a:p>
            <a:pPr indent="0" lvl="0" marL="0" marR="0" rtl="0" algn="l">
              <a:lnSpc>
                <a:spcPct val="105000"/>
              </a:lnSpc>
              <a:spcBef>
                <a:spcPts val="0"/>
              </a:spcBef>
              <a:spcAft>
                <a:spcPts val="0"/>
              </a:spcAft>
              <a:buClr>
                <a:srgbClr val="0C2C2E"/>
              </a:buClr>
              <a:buSzPts val="1500"/>
              <a:buFont typeface="Calibri"/>
              <a:buNone/>
            </a:pPr>
            <a:r>
              <a:rPr b="1" i="0" lang="en" sz="1500" u="none" cap="none" strike="noStrike">
                <a:solidFill>
                  <a:srgbClr val="0C2C2E"/>
                </a:solidFill>
                <a:latin typeface="Calibri"/>
                <a:ea typeface="Calibri"/>
                <a:cs typeface="Calibri"/>
                <a:sym typeface="Calibri"/>
              </a:rPr>
              <a:t>Usage by state / LGA</a:t>
            </a:r>
            <a:endParaRPr b="0" i="0" sz="15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0C2C2E"/>
              </a:buClr>
              <a:buSzPts val="1500"/>
              <a:buFont typeface="Calibri"/>
              <a:buNone/>
            </a:pPr>
            <a:r>
              <a:rPr b="1" i="0" lang="en" sz="1500" u="none" cap="none" strike="noStrike">
                <a:solidFill>
                  <a:srgbClr val="0C2C2E"/>
                </a:solidFill>
                <a:latin typeface="Calibri"/>
                <a:ea typeface="Calibri"/>
                <a:cs typeface="Calibri"/>
                <a:sym typeface="Calibri"/>
              </a:rPr>
              <a:t>(aggregated level)</a:t>
            </a:r>
            <a:endParaRPr b="0" i="0" sz="1500" u="none" cap="none" strike="noStrike">
              <a:solidFill>
                <a:schemeClr val="dk1"/>
              </a:solidFill>
              <a:latin typeface="Calibri"/>
              <a:ea typeface="Calibri"/>
              <a:cs typeface="Calibri"/>
              <a:sym typeface="Calibri"/>
            </a:endParaRPr>
          </a:p>
        </p:txBody>
      </p:sp>
      <p:sp>
        <p:nvSpPr>
          <p:cNvPr id="183" name="Google Shape;183;p21"/>
          <p:cNvSpPr/>
          <p:nvPr/>
        </p:nvSpPr>
        <p:spPr>
          <a:xfrm>
            <a:off x="4766310" y="3154680"/>
            <a:ext cx="363474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C7A7C"/>
              </a:buClr>
              <a:buSzPts val="1000"/>
              <a:buFont typeface="Calibri"/>
              <a:buNone/>
            </a:pPr>
            <a:r>
              <a:rPr b="0" i="1" lang="en" sz="1000" u="none" cap="none" strike="noStrike">
                <a:solidFill>
                  <a:srgbClr val="5C7A7C"/>
                </a:solidFill>
                <a:latin typeface="Calibri"/>
                <a:ea typeface="Calibri"/>
                <a:cs typeface="Calibri"/>
                <a:sym typeface="Calibri"/>
              </a:rPr>
              <a:t>Where is demand strongest and where should outreach focus?</a:t>
            </a:r>
            <a:endParaRPr b="0" i="0" sz="1000" u="none" cap="none" strike="noStrike">
              <a:solidFill>
                <a:schemeClr val="dk1"/>
              </a:solidFill>
              <a:latin typeface="Calibri"/>
              <a:ea typeface="Calibri"/>
              <a:cs typeface="Calibri"/>
              <a:sym typeface="Calibri"/>
            </a:endParaRPr>
          </a:p>
        </p:txBody>
      </p:sp>
      <p:sp>
        <p:nvSpPr>
          <p:cNvPr id="184" name="Google Shape;184;p21"/>
          <p:cNvSpPr/>
          <p:nvPr/>
        </p:nvSpPr>
        <p:spPr>
          <a:xfrm>
            <a:off x="4766310" y="3634740"/>
            <a:ext cx="3634740" cy="75438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4A6567"/>
              </a:buClr>
              <a:buSzPts val="900"/>
              <a:buFont typeface="Calibri"/>
              <a:buNone/>
            </a:pPr>
            <a:r>
              <a:rPr b="0" i="0" lang="en" sz="900" u="none" cap="none" strike="noStrike">
                <a:solidFill>
                  <a:srgbClr val="4A6567"/>
                </a:solidFill>
                <a:latin typeface="Calibri"/>
                <a:ea typeface="Calibri"/>
                <a:cs typeface="Calibri"/>
                <a:sym typeface="Calibri"/>
              </a:rPr>
              <a:t>Aggregated geography, not precise location histories</a:t>
            </a:r>
            <a:r>
              <a:rPr lang="en" sz="900">
                <a:solidFill>
                  <a:srgbClr val="4A6567"/>
                </a:solidFill>
                <a:latin typeface="Calibri"/>
                <a:ea typeface="Calibri"/>
                <a:cs typeface="Calibri"/>
                <a:sym typeface="Calibri"/>
              </a:rPr>
              <a:t>, </a:t>
            </a:r>
            <a:r>
              <a:rPr b="0" i="0" lang="en" sz="900" u="none" cap="none" strike="noStrike">
                <a:solidFill>
                  <a:srgbClr val="4A6567"/>
                </a:solidFill>
                <a:latin typeface="Calibri"/>
                <a:ea typeface="Calibri"/>
                <a:cs typeface="Calibri"/>
                <a:sym typeface="Calibri"/>
              </a:rPr>
              <a:t>consistent with the privacy architecture carried through analytics.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189" name="Shape 189"/>
        <p:cNvGrpSpPr/>
        <p:nvPr/>
      </p:nvGrpSpPr>
      <p:grpSpPr>
        <a:xfrm>
          <a:off x="0" y="0"/>
          <a:ext cx="0" cy="0"/>
          <a:chOff x="0" y="0"/>
          <a:chExt cx="0" cy="0"/>
        </a:xfrm>
      </p:grpSpPr>
      <p:sp>
        <p:nvSpPr>
          <p:cNvPr id="190" name="Google Shape;190;p22"/>
          <p:cNvSpPr/>
          <p:nvPr/>
        </p:nvSpPr>
        <p:spPr>
          <a:xfrm>
            <a:off x="-1714500" y="-1714500"/>
            <a:ext cx="4114800" cy="4114800"/>
          </a:xfrm>
          <a:prstGeom prst="ellipse">
            <a:avLst/>
          </a:prstGeom>
          <a:solidFill>
            <a:srgbClr val="00A896">
              <a:alpha val="45098"/>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2"/>
          <p:cNvSpPr/>
          <p:nvPr/>
        </p:nvSpPr>
        <p:spPr>
          <a:xfrm>
            <a:off x="617220" y="514350"/>
            <a:ext cx="54864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07  ·  TECHNICAL RELIABILITY</a:t>
            </a:r>
            <a:endParaRPr b="0" i="0" sz="1100" u="none" cap="none" strike="noStrike">
              <a:solidFill>
                <a:schemeClr val="dk1"/>
              </a:solidFill>
              <a:latin typeface="Calibri"/>
              <a:ea typeface="Calibri"/>
              <a:cs typeface="Calibri"/>
              <a:sym typeface="Calibri"/>
            </a:endParaRPr>
          </a:p>
        </p:txBody>
      </p:sp>
      <p:sp>
        <p:nvSpPr>
          <p:cNvPr id="192" name="Google Shape;192;p22"/>
          <p:cNvSpPr/>
          <p:nvPr/>
        </p:nvSpPr>
        <p:spPr>
          <a:xfrm>
            <a:off x="617220" y="1954530"/>
            <a:ext cx="1165860" cy="1165860"/>
          </a:xfrm>
          <a:prstGeom prst="ellipse">
            <a:avLst/>
          </a:prstGeom>
          <a:solidFill>
            <a:srgbClr val="0C2C2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193" name="Google Shape;193;p22"/>
          <p:cNvPicPr preferRelativeResize="0"/>
          <p:nvPr/>
        </p:nvPicPr>
        <p:blipFill rotWithShape="1">
          <a:blip r:embed="rId3">
            <a:alphaModFix/>
          </a:blip>
          <a:srcRect b="0" l="0" r="0" t="0"/>
          <a:stretch/>
        </p:blipFill>
        <p:spPr>
          <a:xfrm>
            <a:off x="891540" y="2228850"/>
            <a:ext cx="617220" cy="617220"/>
          </a:xfrm>
          <a:prstGeom prst="rect">
            <a:avLst/>
          </a:prstGeom>
          <a:noFill/>
          <a:ln>
            <a:noFill/>
          </a:ln>
        </p:spPr>
      </p:pic>
      <p:sp>
        <p:nvSpPr>
          <p:cNvPr id="194" name="Google Shape;194;p22"/>
          <p:cNvSpPr/>
          <p:nvPr/>
        </p:nvSpPr>
        <p:spPr>
          <a:xfrm>
            <a:off x="1988820" y="1714500"/>
            <a:ext cx="6583680" cy="1028700"/>
          </a:xfrm>
          <a:prstGeom prst="rect">
            <a:avLst/>
          </a:prstGeom>
          <a:noFill/>
          <a:ln>
            <a:noFill/>
          </a:ln>
        </p:spPr>
        <p:txBody>
          <a:bodyPr anchorCtr="0" anchor="ctr" bIns="34275" lIns="68575" spcFirstLastPara="1" rIns="68575" wrap="square" tIns="34275">
            <a:noAutofit/>
          </a:bodyPr>
          <a:lstStyle/>
          <a:p>
            <a:pPr indent="0" lvl="0" marL="0" marR="0" rtl="0" algn="l">
              <a:lnSpc>
                <a:spcPct val="108000"/>
              </a:lnSpc>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Crash-free sessions /</a:t>
            </a:r>
            <a:endParaRPr b="0" i="0" sz="23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low-end device performance</a:t>
            </a:r>
            <a:endParaRPr b="0" i="0" sz="2300" u="none" cap="none" strike="noStrike">
              <a:solidFill>
                <a:schemeClr val="dk1"/>
              </a:solidFill>
              <a:latin typeface="Calibri"/>
              <a:ea typeface="Calibri"/>
              <a:cs typeface="Calibri"/>
              <a:sym typeface="Calibri"/>
            </a:endParaRPr>
          </a:p>
        </p:txBody>
      </p:sp>
      <p:sp>
        <p:nvSpPr>
          <p:cNvPr id="195" name="Google Shape;195;p22"/>
          <p:cNvSpPr/>
          <p:nvPr/>
        </p:nvSpPr>
        <p:spPr>
          <a:xfrm>
            <a:off x="1988820" y="2777490"/>
            <a:ext cx="658368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E6F2F1"/>
              </a:buClr>
              <a:buSzPts val="1200"/>
              <a:buFont typeface="Calibri"/>
              <a:buNone/>
            </a:pPr>
            <a:r>
              <a:rPr b="0" i="1" lang="en" sz="1200" u="none" cap="none" strike="noStrike">
                <a:solidFill>
                  <a:srgbClr val="E6F2F1"/>
                </a:solidFill>
                <a:latin typeface="Calibri"/>
                <a:ea typeface="Calibri"/>
                <a:cs typeface="Calibri"/>
                <a:sym typeface="Calibri"/>
              </a:rPr>
              <a:t>Can target users reliably use the product?</a:t>
            </a:r>
            <a:endParaRPr b="0" i="0" sz="1200" u="none" cap="none" strike="noStrike">
              <a:solidFill>
                <a:schemeClr val="dk1"/>
              </a:solidFill>
              <a:latin typeface="Calibri"/>
              <a:ea typeface="Calibri"/>
              <a:cs typeface="Calibri"/>
              <a:sym typeface="Calibri"/>
            </a:endParaRPr>
          </a:p>
        </p:txBody>
      </p:sp>
      <p:sp>
        <p:nvSpPr>
          <p:cNvPr id="196" name="Google Shape;196;p22"/>
          <p:cNvSpPr/>
          <p:nvPr/>
        </p:nvSpPr>
        <p:spPr>
          <a:xfrm>
            <a:off x="1988825" y="3257550"/>
            <a:ext cx="6446400" cy="908700"/>
          </a:xfrm>
          <a:prstGeom prst="rect">
            <a:avLst/>
          </a:prstGeom>
          <a:no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spcBef>
                <a:spcPts val="0"/>
              </a:spcBef>
              <a:spcAft>
                <a:spcPts val="0"/>
              </a:spcAft>
              <a:buNone/>
            </a:pPr>
            <a:r>
              <a:rPr lang="en"/>
              <a:t>The app must be tested before every major release to ensure it works reliably on low end Android devices, offline mode, and with limited connectivity. Crashes and major bugs should be minimized to provide a stable user experience.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